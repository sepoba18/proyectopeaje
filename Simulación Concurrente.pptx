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oppins"/>
      <p:bold r:id="rId14"/>
      <p:boldItalic r:id="rId15"/>
    </p:embeddedFont>
    <p:embeddedFont>
      <p:font typeface="Lato"/>
      <p:regular r:id="rId16"/>
      <p:bold r:id="rId17"/>
      <p:italic r:id="rId18"/>
      <p:boldItalic r:id="rId19"/>
    </p:embeddedFont>
    <p:embeddedFont>
      <p:font typeface="Poppins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Light-regular.fntdata"/><Relationship Id="rId11" Type="http://schemas.openxmlformats.org/officeDocument/2006/relationships/slide" Target="slides/slide6.xml"/><Relationship Id="rId22" Type="http://schemas.openxmlformats.org/officeDocument/2006/relationships/font" Target="fonts/PoppinsLight-italic.fntdata"/><Relationship Id="rId10" Type="http://schemas.openxmlformats.org/officeDocument/2006/relationships/slide" Target="slides/slide5.xml"/><Relationship Id="rId21" Type="http://schemas.openxmlformats.org/officeDocument/2006/relationships/font" Target="fonts/PoppinsLigh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Poppins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Italic.fntdata"/><Relationship Id="rId14" Type="http://schemas.openxmlformats.org/officeDocument/2006/relationships/font" Target="fonts/Poppins-bold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8058150" y="10512025"/>
            <a:ext cx="12192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333500" y="1714500"/>
            <a:ext cx="95250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Simulación Concurrente</a:t>
            </a:r>
            <a:endParaRPr b="1" sz="56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06B6D4"/>
                </a:solidFill>
                <a:latin typeface="Poppins Light"/>
                <a:ea typeface="Poppins Light"/>
                <a:cs typeface="Poppins Light"/>
                <a:sym typeface="Poppins Light"/>
              </a:rPr>
              <a:t>Peaje de Autopista</a:t>
            </a:r>
            <a:endParaRPr b="0" sz="4200">
              <a:solidFill>
                <a:srgbClr val="06B6D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191000" y="4000500"/>
            <a:ext cx="38100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75" y="43077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Defensa de Proyecto Final</a:t>
            </a:r>
            <a:endParaRPr b="0" sz="20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PARADIGMA CONCURRENTE</a:t>
            </a:r>
            <a:endParaRPr b="1" sz="16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5" y="3655388"/>
            <a:ext cx="12192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57875" y="1100328"/>
            <a:ext cx="47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lan</a:t>
            </a:r>
            <a:endParaRPr sz="3600">
              <a:solidFill>
                <a:srgbClr val="06B6D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4"/>
          <p:cNvGrpSpPr/>
          <p:nvPr/>
        </p:nvGrpSpPr>
        <p:grpSpPr>
          <a:xfrm>
            <a:off x="571500" y="476250"/>
            <a:ext cx="11049000" cy="704850"/>
            <a:chOff x="571500" y="476250"/>
            <a:chExt cx="11049000" cy="704850"/>
          </a:xfrm>
        </p:grpSpPr>
        <p:sp>
          <p:nvSpPr>
            <p:cNvPr id="95" name="Google Shape;95;p14"/>
            <p:cNvSpPr txBox="1"/>
            <p:nvPr/>
          </p:nvSpPr>
          <p:spPr>
            <a:xfrm>
              <a:off x="571500" y="47625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6B6D4"/>
                  </a:solidFill>
                  <a:latin typeface="Poppins"/>
                  <a:ea typeface="Poppins"/>
                  <a:cs typeface="Poppins"/>
                  <a:sym typeface="Poppins"/>
                </a:rPr>
                <a:t>1. ¿Qué hace el sistema?</a:t>
              </a:r>
              <a:endParaRPr b="1" sz="360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571500" y="1143000"/>
              <a:ext cx="952500" cy="381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" name="Google Shape;97;p14"/>
          <p:cNvGrpSpPr/>
          <p:nvPr/>
        </p:nvGrpSpPr>
        <p:grpSpPr>
          <a:xfrm>
            <a:off x="571500" y="1619250"/>
            <a:ext cx="5334000" cy="4572000"/>
            <a:chOff x="571500" y="1619250"/>
            <a:chExt cx="5334000" cy="4572000"/>
          </a:xfrm>
        </p:grpSpPr>
        <p:sp>
          <p:nvSpPr>
            <p:cNvPr id="98" name="Google Shape;98;p14"/>
            <p:cNvSpPr/>
            <p:nvPr/>
          </p:nvSpPr>
          <p:spPr>
            <a:xfrm>
              <a:off x="571500" y="1619250"/>
              <a:ext cx="5334000" cy="4572000"/>
            </a:xfrm>
            <a:prstGeom prst="roundRect">
              <a:avLst>
                <a:gd fmla="val 41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857250" y="1905000"/>
              <a:ext cx="47625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Resumen de Operación</a:t>
              </a:r>
              <a:endParaRPr b="1" sz="22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Simula un tramo de autopista que converge en una única caseta de peaje común.</a:t>
              </a:r>
              <a:endParaRPr sz="14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Múltiples vías</a:t>
              </a:r>
              <a:endParaRPr b="1" sz="140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8 pistas de circulación independientes.</a:t>
              </a:r>
              <a:endParaRPr sz="13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directions_car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Vehículos en paralelo</a:t>
              </a:r>
              <a:endParaRPr b="1" sz="140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Motos, Autos y Camiones transitan y realizan el pago de su tarifa.</a:t>
              </a:r>
              <a:endParaRPr sz="13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Estructura POO</a:t>
              </a:r>
              <a:endParaRPr b="1" sz="140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5 clases base: Main, Vehiculo, Pista, CasetaPeaje y CajaRegistradora.</a:t>
              </a:r>
              <a:endParaRPr sz="13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00" name="Google Shape;100;p14"/>
          <p:cNvSpPr txBox="1"/>
          <p:nvPr/>
        </p:nvSpPr>
        <p:spPr>
          <a:xfrm>
            <a:off x="6524625" y="2381250"/>
            <a:ext cx="48102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terminal</a:t>
            </a:r>
            <a:endParaRPr sz="5400">
              <a:solidFill>
                <a:srgbClr val="06B6D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FOTO: Inicialización en Main.java</a:t>
            </a:r>
            <a:endParaRPr b="1" sz="1800">
              <a:solidFill>
                <a:srgbClr val="06B6D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Reemplaza este recuadro con la captura de tu clase Main donde instancias el arreglo de Pistas, la CasetaPeaje y los 8 Vehículos.</a:t>
            </a:r>
            <a:endParaRPr sz="13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9225" y="1941900"/>
            <a:ext cx="5955525" cy="297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5"/>
          <p:cNvGrpSpPr/>
          <p:nvPr/>
        </p:nvGrpSpPr>
        <p:grpSpPr>
          <a:xfrm>
            <a:off x="571500" y="476250"/>
            <a:ext cx="11049000" cy="704850"/>
            <a:chOff x="571500" y="476250"/>
            <a:chExt cx="11049000" cy="704850"/>
          </a:xfrm>
        </p:grpSpPr>
        <p:sp>
          <p:nvSpPr>
            <p:cNvPr id="107" name="Google Shape;107;p15"/>
            <p:cNvSpPr txBox="1"/>
            <p:nvPr/>
          </p:nvSpPr>
          <p:spPr>
            <a:xfrm>
              <a:off x="571500" y="47625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6B6D4"/>
                  </a:solidFill>
                  <a:latin typeface="Poppins"/>
                  <a:ea typeface="Poppins"/>
                  <a:cs typeface="Poppins"/>
                  <a:sym typeface="Poppins"/>
                </a:rPr>
                <a:t>2. ¿Qué partes se ejecutan concurrentemente?</a:t>
              </a:r>
              <a:endParaRPr b="1" sz="360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571500" y="1143000"/>
              <a:ext cx="952500" cy="381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" name="Google Shape;109;p15"/>
          <p:cNvGrpSpPr/>
          <p:nvPr/>
        </p:nvGrpSpPr>
        <p:grpSpPr>
          <a:xfrm>
            <a:off x="571500" y="1619250"/>
            <a:ext cx="5334000" cy="4572000"/>
            <a:chOff x="571500" y="1619250"/>
            <a:chExt cx="5334000" cy="4572000"/>
          </a:xfrm>
        </p:grpSpPr>
        <p:sp>
          <p:nvSpPr>
            <p:cNvPr id="110" name="Google Shape;110;p15"/>
            <p:cNvSpPr/>
            <p:nvPr/>
          </p:nvSpPr>
          <p:spPr>
            <a:xfrm>
              <a:off x="571500" y="1619250"/>
              <a:ext cx="5334000" cy="4572000"/>
            </a:xfrm>
            <a:prstGeom prst="roundRect">
              <a:avLst>
                <a:gd fmla="val 41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857250" y="1905000"/>
              <a:ext cx="476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Actores Asíncronos</a:t>
              </a:r>
              <a:endParaRPr b="1" sz="18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857250" y="238125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El núcleo reside en el comportamiento de los hilos:</a:t>
              </a:r>
              <a:endParaRPr b="0" sz="12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13" name="Google Shape;113;p15"/>
            <p:cNvGrpSpPr/>
            <p:nvPr/>
          </p:nvGrpSpPr>
          <p:grpSpPr>
            <a:xfrm>
              <a:off x="857250" y="2952750"/>
              <a:ext cx="4762575" cy="476400"/>
              <a:chOff x="0" y="0"/>
              <a:chExt cx="4762575" cy="476400"/>
            </a:xfrm>
          </p:grpSpPr>
          <p:sp>
            <p:nvSpPr>
              <p:cNvPr id="114" name="Google Shape;114;p15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06B6D4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5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6B6D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account_tree</a:t>
                </a:r>
                <a:endParaRPr sz="20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6" name="Google Shape;116;p15"/>
              <p:cNvSpPr txBox="1"/>
              <p:nvPr/>
            </p:nvSpPr>
            <p:spPr>
              <a:xfrm>
                <a:off x="523875" y="0"/>
                <a:ext cx="42387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8FAFC"/>
                    </a:solidFill>
                    <a:latin typeface="Lato"/>
                    <a:ea typeface="Lato"/>
                    <a:cs typeface="Lato"/>
                    <a:sym typeface="Lato"/>
                  </a:rPr>
                  <a:t>Hilos Independientes: </a:t>
                </a:r>
                <a:r>
                  <a:rPr b="0" lang="en-US" sz="1400">
                    <a:solidFill>
                      <a:srgbClr val="CBD5E1"/>
                    </a:solidFill>
                    <a:latin typeface="Lato"/>
                    <a:ea typeface="Lato"/>
                    <a:cs typeface="Lato"/>
                    <a:sym typeface="Lato"/>
                  </a:rPr>
                  <a:t>Vehículos heredan de Thread.</a:t>
                </a:r>
                <a:endParaRPr b="1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7" name="Google Shape;117;p15"/>
            <p:cNvGrpSpPr/>
            <p:nvPr/>
          </p:nvGrpSpPr>
          <p:grpSpPr>
            <a:xfrm>
              <a:off x="857250" y="3619500"/>
              <a:ext cx="4762575" cy="476400"/>
              <a:chOff x="0" y="0"/>
              <a:chExt cx="4762575" cy="476400"/>
            </a:xfrm>
          </p:grpSpPr>
          <p:sp>
            <p:nvSpPr>
              <p:cNvPr id="118" name="Google Shape;118;p15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06B6D4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5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6B6D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memory</a:t>
                </a:r>
                <a:endParaRPr sz="20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0" name="Google Shape;120;p15"/>
              <p:cNvSpPr txBox="1"/>
              <p:nvPr/>
            </p:nvSpPr>
            <p:spPr>
              <a:xfrm>
                <a:off x="523875" y="0"/>
                <a:ext cx="42387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8FAFC"/>
                    </a:solidFill>
                    <a:latin typeface="Lato"/>
                    <a:ea typeface="Lato"/>
                    <a:cs typeface="Lato"/>
                    <a:sym typeface="Lato"/>
                  </a:rPr>
                  <a:t>Multiprocesamiento: </a:t>
                </a:r>
                <a:r>
                  <a:rPr b="0" lang="en-US" sz="1400">
                    <a:solidFill>
                      <a:srgbClr val="CBD5E1"/>
                    </a:solidFill>
                    <a:latin typeface="Lato"/>
                    <a:ea typeface="Lato"/>
                    <a:cs typeface="Lato"/>
                    <a:sym typeface="Lato"/>
                  </a:rPr>
                  <a:t>start() activa ejecución paralela en CPU.</a:t>
                </a:r>
                <a:endParaRPr b="1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21" name="Google Shape;121;p15"/>
            <p:cNvGrpSpPr/>
            <p:nvPr/>
          </p:nvGrpSpPr>
          <p:grpSpPr>
            <a:xfrm>
              <a:off x="857250" y="4286250"/>
              <a:ext cx="4762575" cy="666900"/>
              <a:chOff x="0" y="0"/>
              <a:chExt cx="4762575" cy="666900"/>
            </a:xfrm>
          </p:grpSpPr>
          <p:sp>
            <p:nvSpPr>
              <p:cNvPr id="122" name="Google Shape;122;p15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06B6D4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5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6B6D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speed</a:t>
                </a:r>
                <a:endParaRPr sz="20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4" name="Google Shape;124;p15"/>
              <p:cNvSpPr txBox="1"/>
              <p:nvPr/>
            </p:nvSpPr>
            <p:spPr>
              <a:xfrm>
                <a:off x="523875" y="0"/>
                <a:ext cx="4238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8FAFC"/>
                    </a:solidFill>
                    <a:latin typeface="Lato"/>
                    <a:ea typeface="Lato"/>
                    <a:cs typeface="Lato"/>
                    <a:sym typeface="Lato"/>
                  </a:rPr>
                  <a:t>Simulación Realista: </a:t>
                </a:r>
                <a:r>
                  <a:rPr b="0" lang="en-US" sz="1400">
                    <a:solidFill>
                      <a:srgbClr val="CBD5E1"/>
                    </a:solidFill>
                    <a:latin typeface="Lato"/>
                    <a:ea typeface="Lato"/>
                    <a:cs typeface="Lato"/>
                    <a:sym typeface="Lato"/>
                  </a:rPr>
                  <a:t>sleep() genera velocidades aleatorias y orden impredecible.</a:t>
                </a:r>
                <a:endParaRPr b="1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pic>
        <p:nvPicPr>
          <p:cNvPr id="125" name="Google Shape;125;p15" title="etentri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0550" y="1297175"/>
            <a:ext cx="5150300" cy="279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title="ru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8725" y="4205600"/>
            <a:ext cx="5383505" cy="22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/>
        </p:nvSpPr>
        <p:spPr>
          <a:xfrm>
            <a:off x="571500" y="476250"/>
            <a:ext cx="11049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3. ¿Qué recursos se comparten?</a:t>
            </a:r>
            <a:endParaRPr b="1" sz="3600">
              <a:solidFill>
                <a:srgbClr val="06B6D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71500" y="1143000"/>
            <a:ext cx="952500" cy="38100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6"/>
          <p:cNvGrpSpPr/>
          <p:nvPr/>
        </p:nvGrpSpPr>
        <p:grpSpPr>
          <a:xfrm>
            <a:off x="571500" y="1619250"/>
            <a:ext cx="5334000" cy="4572000"/>
            <a:chOff x="571500" y="1619250"/>
            <a:chExt cx="5334000" cy="4572000"/>
          </a:xfrm>
        </p:grpSpPr>
        <p:sp>
          <p:nvSpPr>
            <p:cNvPr id="134" name="Google Shape;134;p16"/>
            <p:cNvSpPr/>
            <p:nvPr/>
          </p:nvSpPr>
          <p:spPr>
            <a:xfrm>
              <a:off x="571500" y="1619250"/>
              <a:ext cx="5334000" cy="4572000"/>
            </a:xfrm>
            <a:prstGeom prst="roundRect">
              <a:avLst>
                <a:gd fmla="val 41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857250" y="190500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Puntos de Colisión</a:t>
              </a:r>
              <a:endParaRPr b="1" sz="24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857250" y="247650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3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Para que exista una colisión, los hilos deben acceder a un mismo punto en memoria:</a:t>
              </a:r>
              <a:endParaRPr sz="1203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37" name="Google Shape;137;p16"/>
            <p:cNvGrpSpPr/>
            <p:nvPr/>
          </p:nvGrpSpPr>
          <p:grpSpPr>
            <a:xfrm>
              <a:off x="857250" y="3048000"/>
              <a:ext cx="4762575" cy="476400"/>
              <a:chOff x="0" y="0"/>
              <a:chExt cx="4762575" cy="476400"/>
            </a:xfrm>
          </p:grpSpPr>
          <p:sp>
            <p:nvSpPr>
              <p:cNvPr id="138" name="Google Shape;138;p16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06B6D4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6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6B6D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domain</a:t>
                </a:r>
                <a:endParaRPr sz="20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40" name="Google Shape;140;p16"/>
              <p:cNvSpPr txBox="1"/>
              <p:nvPr/>
            </p:nvSpPr>
            <p:spPr>
              <a:xfrm>
                <a:off x="523875" y="0"/>
                <a:ext cx="42387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8FAFC"/>
                    </a:solidFill>
                    <a:latin typeface="Lato"/>
                    <a:ea typeface="Lato"/>
                    <a:cs typeface="Lato"/>
                    <a:sym typeface="Lato"/>
                  </a:rPr>
                  <a:t>Recurso Físico: </a:t>
                </a:r>
                <a:r>
                  <a:rPr b="0" lang="en-US" sz="1400">
                    <a:solidFill>
                      <a:srgbClr val="CBD5E1"/>
                    </a:solidFill>
                    <a:latin typeface="Lato"/>
                    <a:ea typeface="Lato"/>
                    <a:cs typeface="Lato"/>
                    <a:sym typeface="Lato"/>
                  </a:rPr>
                  <a:t>La instancia de CasetaPeaje compartida por las 8 pistas.</a:t>
                </a:r>
                <a:endParaRPr b="1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41" name="Google Shape;141;p16"/>
            <p:cNvGrpSpPr/>
            <p:nvPr/>
          </p:nvGrpSpPr>
          <p:grpSpPr>
            <a:xfrm>
              <a:off x="857250" y="3714750"/>
              <a:ext cx="4762575" cy="476400"/>
              <a:chOff x="0" y="0"/>
              <a:chExt cx="4762575" cy="476400"/>
            </a:xfrm>
          </p:grpSpPr>
          <p:sp>
            <p:nvSpPr>
              <p:cNvPr id="142" name="Google Shape;142;p16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06B6D4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6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6B6D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point_of_sale</a:t>
                </a:r>
                <a:endParaRPr sz="20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44" name="Google Shape;144;p16"/>
              <p:cNvSpPr txBox="1"/>
              <p:nvPr/>
            </p:nvSpPr>
            <p:spPr>
              <a:xfrm>
                <a:off x="523875" y="0"/>
                <a:ext cx="42387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8FAFC"/>
                    </a:solidFill>
                    <a:latin typeface="Lato"/>
                    <a:ea typeface="Lato"/>
                    <a:cs typeface="Lato"/>
                    <a:sym typeface="Lato"/>
                  </a:rPr>
                  <a:t>Sección Crítica: </a:t>
                </a:r>
                <a:r>
                  <a:rPr b="0" lang="en-US" sz="1400">
                    <a:solidFill>
                      <a:srgbClr val="CBD5E1"/>
                    </a:solidFill>
                    <a:latin typeface="Lato"/>
                    <a:ea typeface="Lato"/>
                    <a:cs typeface="Lato"/>
                    <a:sym typeface="Lato"/>
                  </a:rPr>
                  <a:t>La instancia de CajaRegistradora dentro de la caseta.</a:t>
                </a:r>
                <a:endParaRPr b="1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45" name="Google Shape;145;p16"/>
            <p:cNvGrpSpPr/>
            <p:nvPr/>
          </p:nvGrpSpPr>
          <p:grpSpPr>
            <a:xfrm>
              <a:off x="857250" y="4381500"/>
              <a:ext cx="4762575" cy="666900"/>
              <a:chOff x="0" y="0"/>
              <a:chExt cx="4762575" cy="666900"/>
            </a:xfrm>
          </p:grpSpPr>
          <p:sp>
            <p:nvSpPr>
              <p:cNvPr id="146" name="Google Shape;146;p16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06B6D4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6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6B6D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dangerous</a:t>
                </a:r>
                <a:endParaRPr sz="20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48" name="Google Shape;148;p16"/>
              <p:cNvSpPr txBox="1"/>
              <p:nvPr/>
            </p:nvSpPr>
            <p:spPr>
              <a:xfrm>
                <a:off x="523875" y="0"/>
                <a:ext cx="4238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8FAFC"/>
                    </a:solidFill>
                    <a:latin typeface="Lato"/>
                    <a:ea typeface="Lato"/>
                    <a:cs typeface="Lato"/>
                    <a:sym typeface="Lato"/>
                  </a:rPr>
                  <a:t>Punto Crítico de Falla: </a:t>
                </a:r>
                <a:r>
                  <a:rPr b="0" lang="en-US" sz="1400">
                    <a:solidFill>
                      <a:srgbClr val="CBD5E1"/>
                    </a:solidFill>
                    <a:latin typeface="Lato"/>
                    <a:ea typeface="Lato"/>
                    <a:cs typeface="Lato"/>
                    <a:sym typeface="Lato"/>
                  </a:rPr>
                  <a:t>La variable "saldo", leída y sobreescrita simultáneamente por todos.</a:t>
                </a:r>
                <a:endParaRPr b="1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pic>
        <p:nvPicPr>
          <p:cNvPr id="149" name="Google Shape;149;p16" title="cajaregistraopr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7275" y="2107675"/>
            <a:ext cx="5852550" cy="37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7"/>
          <p:cNvGrpSpPr/>
          <p:nvPr/>
        </p:nvGrpSpPr>
        <p:grpSpPr>
          <a:xfrm>
            <a:off x="571500" y="476250"/>
            <a:ext cx="11049000" cy="704850"/>
            <a:chOff x="571500" y="476250"/>
            <a:chExt cx="11049000" cy="704850"/>
          </a:xfrm>
        </p:grpSpPr>
        <p:sp>
          <p:nvSpPr>
            <p:cNvPr id="155" name="Google Shape;155;p17"/>
            <p:cNvSpPr txBox="1"/>
            <p:nvPr/>
          </p:nvSpPr>
          <p:spPr>
            <a:xfrm>
              <a:off x="571500" y="47625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43F5E"/>
                  </a:solidFill>
                  <a:latin typeface="Poppins"/>
                  <a:ea typeface="Poppins"/>
                  <a:cs typeface="Poppins"/>
                  <a:sym typeface="Poppins"/>
                </a:rPr>
                <a:t>4. Condición de Carrera</a:t>
              </a:r>
              <a:endParaRPr b="1" sz="3600">
                <a:solidFill>
                  <a:srgbClr val="F43F5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571500" y="1143000"/>
              <a:ext cx="952500" cy="38100"/>
            </a:xfrm>
            <a:prstGeom prst="roundRect">
              <a:avLst>
                <a:gd fmla="val 50000" name="adj"/>
              </a:avLst>
            </a:pr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17"/>
          <p:cNvGrpSpPr/>
          <p:nvPr/>
        </p:nvGrpSpPr>
        <p:grpSpPr>
          <a:xfrm>
            <a:off x="571500" y="1619250"/>
            <a:ext cx="5334000" cy="4572000"/>
            <a:chOff x="571500" y="1619250"/>
            <a:chExt cx="5334000" cy="4572000"/>
          </a:xfrm>
        </p:grpSpPr>
        <p:sp>
          <p:nvSpPr>
            <p:cNvPr id="158" name="Google Shape;158;p17"/>
            <p:cNvSpPr/>
            <p:nvPr/>
          </p:nvSpPr>
          <p:spPr>
            <a:xfrm>
              <a:off x="571500" y="1619250"/>
              <a:ext cx="5334000" cy="4572000"/>
            </a:xfrm>
            <a:prstGeom prst="roundRect">
              <a:avLst>
                <a:gd fmla="val 41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857250" y="190500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Lectura y Escritura Sucia</a:t>
              </a:r>
              <a:endParaRPr b="1" sz="24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857250" y="2524125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Múltiples hilos compiten por el mismo recurso sin sincronización.</a:t>
              </a:r>
              <a:endParaRPr b="0" sz="13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61" name="Google Shape;161;p17"/>
            <p:cNvGrpSpPr/>
            <p:nvPr/>
          </p:nvGrpSpPr>
          <p:grpSpPr>
            <a:xfrm>
              <a:off x="857250" y="3143250"/>
              <a:ext cx="4762575" cy="476400"/>
              <a:chOff x="0" y="0"/>
              <a:chExt cx="4762575" cy="476400"/>
            </a:xfrm>
          </p:grpSpPr>
          <p:sp>
            <p:nvSpPr>
              <p:cNvPr id="162" name="Google Shape;162;p17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F43F5E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sync_problem</a:t>
                </a:r>
                <a:endParaRPr sz="2000">
                  <a:solidFill>
                    <a:srgbClr val="F43F5E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63" name="Google Shape;163;p17"/>
              <p:cNvSpPr txBox="1"/>
              <p:nvPr/>
            </p:nvSpPr>
            <p:spPr>
              <a:xfrm>
                <a:off x="523875" y="0"/>
                <a:ext cx="42387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8FAFC"/>
                    </a:solidFill>
                    <a:latin typeface="Lato"/>
                    <a:ea typeface="Lato"/>
                    <a:cs typeface="Lato"/>
                    <a:sym typeface="Lato"/>
                  </a:rPr>
                  <a:t>Acceso Simultáneo:</a:t>
                </a:r>
                <a:r>
                  <a:rPr lang="en-US" sz="1400">
                    <a:solidFill>
                      <a:srgbClr val="CBD5E1"/>
                    </a:solidFill>
                    <a:latin typeface="Lato"/>
                    <a:ea typeface="Lato"/>
                    <a:cs typeface="Lato"/>
                    <a:sym typeface="Lato"/>
                  </a:rPr>
                  <a:t> Leen el mismo saldo base al mismo tiempo.</a:t>
                </a:r>
                <a:endParaRPr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64" name="Google Shape;164;p17"/>
            <p:cNvGrpSpPr/>
            <p:nvPr/>
          </p:nvGrpSpPr>
          <p:grpSpPr>
            <a:xfrm>
              <a:off x="857250" y="3810000"/>
              <a:ext cx="4762575" cy="476400"/>
              <a:chOff x="0" y="0"/>
              <a:chExt cx="4762575" cy="476400"/>
            </a:xfrm>
          </p:grpSpPr>
          <p:sp>
            <p:nvSpPr>
              <p:cNvPr id="165" name="Google Shape;165;p17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F43F5E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history_edu</a:t>
                </a:r>
                <a:endParaRPr sz="2000">
                  <a:solidFill>
                    <a:srgbClr val="F43F5E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66" name="Google Shape;166;p17"/>
              <p:cNvSpPr txBox="1"/>
              <p:nvPr/>
            </p:nvSpPr>
            <p:spPr>
              <a:xfrm>
                <a:off x="523875" y="0"/>
                <a:ext cx="42387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8FAFC"/>
                    </a:solidFill>
                    <a:latin typeface="Lato"/>
                    <a:ea typeface="Lato"/>
                    <a:cs typeface="Lato"/>
                    <a:sym typeface="Lato"/>
                  </a:rPr>
                  <a:t>Sobrescritura:</a:t>
                </a:r>
                <a:r>
                  <a:rPr lang="en-US" sz="1400">
                    <a:solidFill>
                      <a:srgbClr val="CBD5E1"/>
                    </a:solidFill>
                    <a:latin typeface="Lato"/>
                    <a:ea typeface="Lato"/>
                    <a:cs typeface="Lato"/>
                    <a:sym typeface="Lato"/>
                  </a:rPr>
                  <a:t> Los cambios de un hilo borran los del anterior.</a:t>
                </a:r>
                <a:endParaRPr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67" name="Google Shape;167;p17"/>
            <p:cNvGrpSpPr/>
            <p:nvPr/>
          </p:nvGrpSpPr>
          <p:grpSpPr>
            <a:xfrm>
              <a:off x="857250" y="4476750"/>
              <a:ext cx="4762575" cy="666900"/>
              <a:chOff x="0" y="0"/>
              <a:chExt cx="4762575" cy="666900"/>
            </a:xfrm>
          </p:grpSpPr>
          <p:sp>
            <p:nvSpPr>
              <p:cNvPr id="168" name="Google Shape;168;p17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F43F5E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warning</a:t>
                </a:r>
                <a:endParaRPr sz="2000">
                  <a:solidFill>
                    <a:srgbClr val="F43F5E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523875" y="0"/>
                <a:ext cx="42387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8FAFC"/>
                    </a:solidFill>
                    <a:latin typeface="Lato"/>
                    <a:ea typeface="Lato"/>
                    <a:cs typeface="Lato"/>
                    <a:sym typeface="Lato"/>
                  </a:rPr>
                  <a:t>Consecuencia:</a:t>
                </a:r>
                <a:r>
                  <a:rPr lang="en-US" sz="1400">
                    <a:solidFill>
                      <a:srgbClr val="CBD5E1"/>
                    </a:solidFill>
                    <a:latin typeface="Lato"/>
                    <a:ea typeface="Lato"/>
                    <a:cs typeface="Lato"/>
                    <a:sym typeface="Lato"/>
                  </a:rPr>
                  <a:t> Se pierde dinero. Meta: </a:t>
                </a:r>
                <a:r>
                  <a:rPr b="1" lang="en-US" sz="1400">
                    <a:solidFill>
                      <a:srgbClr val="10B981"/>
                    </a:solidFill>
                    <a:latin typeface="Lato"/>
                    <a:ea typeface="Lato"/>
                    <a:cs typeface="Lato"/>
                    <a:sym typeface="Lato"/>
                  </a:rPr>
                  <a:t>$13,000</a:t>
                </a:r>
                <a:r>
                  <a:rPr lang="en-US" sz="1400">
                    <a:solidFill>
                      <a:srgbClr val="CBD5E1"/>
                    </a:solidFill>
                    <a:latin typeface="Lato"/>
                    <a:ea typeface="Lato"/>
                    <a:cs typeface="Lato"/>
                    <a:sym typeface="Lato"/>
                  </a:rPr>
                  <a:t> vs. Realidad: </a:t>
                </a:r>
                <a:r>
                  <a:rPr b="1" lang="en-US" sz="1400">
                    <a:solidFill>
                      <a:srgbClr val="F43F5E"/>
                    </a:solidFill>
                    <a:latin typeface="Lato"/>
                    <a:ea typeface="Lato"/>
                    <a:cs typeface="Lato"/>
                    <a:sym typeface="Lato"/>
                  </a:rPr>
                  <a:t>$5,000</a:t>
                </a:r>
                <a:r>
                  <a:rPr lang="en-US" sz="1400">
                    <a:solidFill>
                      <a:srgbClr val="CBD5E1"/>
                    </a:solidFill>
                    <a:latin typeface="Lato"/>
                    <a:ea typeface="Lato"/>
                    <a:cs typeface="Lato"/>
                    <a:sym typeface="Lato"/>
                  </a:rPr>
                  <a:t>.</a:t>
                </a:r>
                <a:endParaRPr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pic>
        <p:nvPicPr>
          <p:cNvPr id="170" name="Google Shape;170;p17" title="Captura de pantalla 2026-06-24 180820.png"/>
          <p:cNvPicPr preferRelativeResize="0"/>
          <p:nvPr/>
        </p:nvPicPr>
        <p:blipFill rotWithShape="1">
          <a:blip r:embed="rId4">
            <a:alphaModFix/>
          </a:blip>
          <a:srcRect b="0" l="0" r="0" t="37644"/>
          <a:stretch/>
        </p:blipFill>
        <p:spPr>
          <a:xfrm>
            <a:off x="6294250" y="2417488"/>
            <a:ext cx="5286374" cy="387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/>
          <p:cNvPicPr preferRelativeResize="0"/>
          <p:nvPr/>
        </p:nvPicPr>
        <p:blipFill rotWithShape="1">
          <a:blip r:embed="rId5">
            <a:alphaModFix/>
          </a:blip>
          <a:srcRect b="90929" l="0" r="16044" t="900"/>
          <a:stretch/>
        </p:blipFill>
        <p:spPr>
          <a:xfrm>
            <a:off x="6294250" y="1619250"/>
            <a:ext cx="4710449" cy="52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/>
        </p:nvSpPr>
        <p:spPr>
          <a:xfrm>
            <a:off x="571500" y="476250"/>
            <a:ext cx="11049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5. ¿Cómo se resolvió?</a:t>
            </a:r>
            <a:endParaRPr b="1" sz="3600">
              <a:solidFill>
                <a:srgbClr val="10B9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71500" y="1524000"/>
            <a:ext cx="5334000" cy="4572000"/>
          </a:xfrm>
          <a:prstGeom prst="roundRect">
            <a:avLst>
              <a:gd fmla="val 4166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" name="Google Shape;178;p18"/>
          <p:cNvGrpSpPr/>
          <p:nvPr/>
        </p:nvGrpSpPr>
        <p:grpSpPr>
          <a:xfrm>
            <a:off x="857250" y="1809750"/>
            <a:ext cx="4762500" cy="1047900"/>
            <a:chOff x="857250" y="1809750"/>
            <a:chExt cx="4762500" cy="1047900"/>
          </a:xfrm>
        </p:grpSpPr>
        <p:sp>
          <p:nvSpPr>
            <p:cNvPr id="179" name="Google Shape;179;p18"/>
            <p:cNvSpPr txBox="1"/>
            <p:nvPr/>
          </p:nvSpPr>
          <p:spPr>
            <a:xfrm>
              <a:off x="857250" y="180975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Exclusión Mutua</a:t>
              </a:r>
              <a:endParaRPr b="1" sz="24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0" name="Google Shape;180;p18"/>
            <p:cNvSpPr txBox="1"/>
            <p:nvPr/>
          </p:nvSpPr>
          <p:spPr>
            <a:xfrm>
              <a:off x="857250" y="2381250"/>
              <a:ext cx="476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Implementamos el bloqueo nativo de Java para proteger la sección crítica.</a:t>
              </a:r>
              <a:endParaRPr b="0" sz="13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1" name="Google Shape;181;p18"/>
          <p:cNvGrpSpPr/>
          <p:nvPr/>
        </p:nvGrpSpPr>
        <p:grpSpPr>
          <a:xfrm>
            <a:off x="857250" y="3048000"/>
            <a:ext cx="4762575" cy="666900"/>
            <a:chOff x="857250" y="3048000"/>
            <a:chExt cx="4762575" cy="666900"/>
          </a:xfrm>
        </p:grpSpPr>
        <p:sp>
          <p:nvSpPr>
            <p:cNvPr id="182" name="Google Shape;182;p18"/>
            <p:cNvSpPr/>
            <p:nvPr/>
          </p:nvSpPr>
          <p:spPr>
            <a:xfrm>
              <a:off x="857250" y="304800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10B98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857250" y="307721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 sz="2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1381125" y="3048000"/>
              <a:ext cx="42387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synchronized (caja): </a:t>
              </a:r>
              <a:r>
                <a:rPr b="0" lang="en-US"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Aplicamos este bloque en la CasetaPeaje al momento de cobrar.</a:t>
              </a:r>
              <a:endParaRPr b="1" sz="140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5" name="Google Shape;185;p18"/>
          <p:cNvGrpSpPr/>
          <p:nvPr/>
        </p:nvGrpSpPr>
        <p:grpSpPr>
          <a:xfrm>
            <a:off x="857250" y="3905250"/>
            <a:ext cx="4762575" cy="666900"/>
            <a:chOff x="857250" y="3905250"/>
            <a:chExt cx="4762575" cy="666900"/>
          </a:xfrm>
        </p:grpSpPr>
        <p:sp>
          <p:nvSpPr>
            <p:cNvPr id="186" name="Google Shape;186;p18"/>
            <p:cNvSpPr/>
            <p:nvPr/>
          </p:nvSpPr>
          <p:spPr>
            <a:xfrm>
              <a:off x="857250" y="390525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10B98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857250" y="393446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traffic</a:t>
              </a:r>
              <a:endParaRPr sz="2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1381125" y="3905250"/>
              <a:ext cx="42387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Barrera de Acceso: </a:t>
              </a:r>
              <a:r>
                <a:rPr b="0" lang="en-US"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Solo un vehículo interactúa con la caja a la vez. Los demás esperan su turno.</a:t>
              </a:r>
              <a:endParaRPr b="1" sz="140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9" name="Google Shape;189;p18"/>
          <p:cNvGrpSpPr/>
          <p:nvPr/>
        </p:nvGrpSpPr>
        <p:grpSpPr>
          <a:xfrm>
            <a:off x="857250" y="4762500"/>
            <a:ext cx="4762575" cy="666900"/>
            <a:chOff x="857250" y="4762500"/>
            <a:chExt cx="4762575" cy="666900"/>
          </a:xfrm>
        </p:grpSpPr>
        <p:sp>
          <p:nvSpPr>
            <p:cNvPr id="190" name="Google Shape;190;p18"/>
            <p:cNvSpPr/>
            <p:nvPr/>
          </p:nvSpPr>
          <p:spPr>
            <a:xfrm>
              <a:off x="857250" y="476250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10B98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 txBox="1"/>
            <p:nvPr/>
          </p:nvSpPr>
          <p:spPr>
            <a:xfrm>
              <a:off x="857250" y="479171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account_balance_wallet</a:t>
              </a:r>
              <a:endParaRPr sz="2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1381125" y="4762500"/>
              <a:ext cx="42387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Consistencia: </a:t>
              </a:r>
              <a:r>
                <a:rPr b="0" lang="en-US"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Se evita la sobreescritura y el dinero se acumula perfectamente.</a:t>
              </a:r>
              <a:endParaRPr b="1" sz="140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93" name="Google Shape;193;p18"/>
          <p:cNvSpPr/>
          <p:nvPr/>
        </p:nvSpPr>
        <p:spPr>
          <a:xfrm>
            <a:off x="571500" y="1143000"/>
            <a:ext cx="952500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18" title="Captura de pantalla 2026-06-24 183708.png"/>
          <p:cNvPicPr preferRelativeResize="0"/>
          <p:nvPr/>
        </p:nvPicPr>
        <p:blipFill rotWithShape="1">
          <a:blip r:embed="rId4">
            <a:alphaModFix/>
          </a:blip>
          <a:srcRect b="0" l="-959" r="0" t="0"/>
          <a:stretch/>
        </p:blipFill>
        <p:spPr>
          <a:xfrm>
            <a:off x="6025950" y="2857650"/>
            <a:ext cx="5594550" cy="16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19"/>
          <p:cNvGrpSpPr/>
          <p:nvPr/>
        </p:nvGrpSpPr>
        <p:grpSpPr>
          <a:xfrm>
            <a:off x="571500" y="476250"/>
            <a:ext cx="11049000" cy="800100"/>
            <a:chOff x="571500" y="476250"/>
            <a:chExt cx="11049000" cy="800100"/>
          </a:xfrm>
        </p:grpSpPr>
        <p:sp>
          <p:nvSpPr>
            <p:cNvPr id="200" name="Google Shape;200;p19"/>
            <p:cNvSpPr txBox="1"/>
            <p:nvPr/>
          </p:nvSpPr>
          <p:spPr>
            <a:xfrm>
              <a:off x="571500" y="476250"/>
              <a:ext cx="1104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6B6D4"/>
                  </a:solidFill>
                  <a:latin typeface="Poppins"/>
                  <a:ea typeface="Poppins"/>
                  <a:cs typeface="Poppins"/>
                  <a:sym typeface="Poppins"/>
                </a:rPr>
                <a:t>Evidencia de Ejecución Correcta</a:t>
              </a:r>
              <a:endParaRPr b="1" sz="360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571500" y="1238250"/>
              <a:ext cx="952500" cy="381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2" name="Google Shape;202;p19" title="synchronized caja.png"/>
          <p:cNvPicPr preferRelativeResize="0"/>
          <p:nvPr/>
        </p:nvPicPr>
        <p:blipFill rotWithShape="1">
          <a:blip r:embed="rId4">
            <a:alphaModFix/>
          </a:blip>
          <a:srcRect b="0" l="0" r="0" t="30333"/>
          <a:stretch/>
        </p:blipFill>
        <p:spPr>
          <a:xfrm>
            <a:off x="6401375" y="1773450"/>
            <a:ext cx="5334000" cy="4263600"/>
          </a:xfrm>
          <a:prstGeom prst="roundRect">
            <a:avLst>
              <a:gd fmla="val 3125" name="adj"/>
            </a:avLst>
          </a:prstGeom>
          <a:noFill/>
          <a:ln>
            <a:noFill/>
          </a:ln>
        </p:spPr>
      </p:pic>
      <p:grpSp>
        <p:nvGrpSpPr>
          <p:cNvPr id="203" name="Google Shape;203;p19"/>
          <p:cNvGrpSpPr/>
          <p:nvPr/>
        </p:nvGrpSpPr>
        <p:grpSpPr>
          <a:xfrm>
            <a:off x="571500" y="1619250"/>
            <a:ext cx="5334000" cy="4572000"/>
            <a:chOff x="571500" y="1619250"/>
            <a:chExt cx="5334000" cy="4572000"/>
          </a:xfrm>
        </p:grpSpPr>
        <p:sp>
          <p:nvSpPr>
            <p:cNvPr id="204" name="Google Shape;204;p19"/>
            <p:cNvSpPr/>
            <p:nvPr/>
          </p:nvSpPr>
          <p:spPr>
            <a:xfrm>
              <a:off x="571500" y="1619250"/>
              <a:ext cx="5334000" cy="4572000"/>
            </a:xfrm>
            <a:prstGeom prst="roundRect">
              <a:avLst>
                <a:gd fmla="val 3125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9"/>
            <p:cNvSpPr txBox="1"/>
            <p:nvPr/>
          </p:nvSpPr>
          <p:spPr>
            <a:xfrm>
              <a:off x="857250" y="1905000"/>
              <a:ext cx="476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Control de Flujo</a:t>
              </a:r>
              <a:endParaRPr b="1" sz="24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857250" y="247650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9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El hilo principal (Main) orquesta la simulación garantizando integridad.</a:t>
              </a:r>
              <a:endParaRPr b="0" sz="119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07" name="Google Shape;207;p19"/>
            <p:cNvGrpSpPr/>
            <p:nvPr/>
          </p:nvGrpSpPr>
          <p:grpSpPr>
            <a:xfrm>
              <a:off x="857250" y="3048000"/>
              <a:ext cx="4715025" cy="2286000"/>
              <a:chOff x="857250" y="3048000"/>
              <a:chExt cx="4715025" cy="2286000"/>
            </a:xfrm>
          </p:grpSpPr>
          <p:grpSp>
            <p:nvGrpSpPr>
              <p:cNvPr id="208" name="Google Shape;208;p19"/>
              <p:cNvGrpSpPr/>
              <p:nvPr/>
            </p:nvGrpSpPr>
            <p:grpSpPr>
              <a:xfrm>
                <a:off x="857250" y="3048000"/>
                <a:ext cx="4715025" cy="571500"/>
                <a:chOff x="0" y="0"/>
                <a:chExt cx="4715025" cy="571500"/>
              </a:xfrm>
            </p:grpSpPr>
            <p:sp>
              <p:nvSpPr>
                <p:cNvPr id="209" name="Google Shape;209;p19"/>
                <p:cNvSpPr/>
                <p:nvPr/>
              </p:nvSpPr>
              <p:spPr>
                <a:xfrm>
                  <a:off x="0" y="0"/>
                  <a:ext cx="304800" cy="304800"/>
                </a:xfrm>
                <a:prstGeom prst="roundRect">
                  <a:avLst>
                    <a:gd fmla="val 25000" name="adj"/>
                  </a:avLst>
                </a:prstGeom>
                <a:solidFill>
                  <a:srgbClr val="06B6D4">
                    <a:alpha val="1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" name="Google Shape;210;p19"/>
                <p:cNvSpPr txBox="1"/>
                <p:nvPr/>
              </p:nvSpPr>
              <p:spPr>
                <a:xfrm>
                  <a:off x="0" y="23368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06B6D4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play_arrow</a:t>
                  </a:r>
                  <a:endParaRPr sz="1600">
                    <a:solidFill>
                      <a:srgbClr val="06B6D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211" name="Google Shape;211;p19"/>
                <p:cNvSpPr txBox="1"/>
                <p:nvPr/>
              </p:nvSpPr>
              <p:spPr>
                <a:xfrm>
                  <a:off x="428625" y="0"/>
                  <a:ext cx="42864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300">
                      <a:solidFill>
                        <a:srgbClr val="F8FAFC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Inicio Ordenado:</a:t>
                  </a:r>
                  <a:r>
                    <a:rPr lang="en-US" sz="1300">
                      <a:solidFill>
                        <a:srgbClr val="CBD5E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 Bucle v.start() para desencadenar la ejecución paralela.</a:t>
                  </a:r>
                  <a:endParaRPr sz="1300">
                    <a:solidFill>
                      <a:srgbClr val="CBD5E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12" name="Google Shape;212;p19"/>
              <p:cNvGrpSpPr/>
              <p:nvPr/>
            </p:nvGrpSpPr>
            <p:grpSpPr>
              <a:xfrm>
                <a:off x="857250" y="3810000"/>
                <a:ext cx="4715025" cy="762000"/>
                <a:chOff x="0" y="0"/>
                <a:chExt cx="4715025" cy="762000"/>
              </a:xfrm>
            </p:grpSpPr>
            <p:sp>
              <p:nvSpPr>
                <p:cNvPr id="213" name="Google Shape;213;p19"/>
                <p:cNvSpPr/>
                <p:nvPr/>
              </p:nvSpPr>
              <p:spPr>
                <a:xfrm>
                  <a:off x="0" y="0"/>
                  <a:ext cx="304800" cy="304800"/>
                </a:xfrm>
                <a:prstGeom prst="roundRect">
                  <a:avLst>
                    <a:gd fmla="val 25000" name="adj"/>
                  </a:avLst>
                </a:prstGeom>
                <a:solidFill>
                  <a:srgbClr val="06B6D4">
                    <a:alpha val="1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" name="Google Shape;214;p19"/>
                <p:cNvSpPr txBox="1"/>
                <p:nvPr/>
              </p:nvSpPr>
              <p:spPr>
                <a:xfrm>
                  <a:off x="0" y="23368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06B6D4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hourglass_empty</a:t>
                  </a:r>
                  <a:endParaRPr sz="1600">
                    <a:solidFill>
                      <a:srgbClr val="06B6D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215" name="Google Shape;215;p19"/>
                <p:cNvSpPr txBox="1"/>
                <p:nvPr/>
              </p:nvSpPr>
              <p:spPr>
                <a:xfrm>
                  <a:off x="428625" y="0"/>
                  <a:ext cx="42864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300">
                      <a:solidFill>
                        <a:srgbClr val="F8FAFC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Espera de Finalización:</a:t>
                  </a:r>
                  <a:r>
                    <a:rPr lang="en-US" sz="1300">
                      <a:solidFill>
                        <a:srgbClr val="CBD5E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 Bucle v.join() para sincronizar el cierre de hilos.</a:t>
                  </a:r>
                  <a:endParaRPr sz="1300">
                    <a:solidFill>
                      <a:srgbClr val="CBD5E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16" name="Google Shape;216;p19"/>
              <p:cNvGrpSpPr/>
              <p:nvPr/>
            </p:nvGrpSpPr>
            <p:grpSpPr>
              <a:xfrm>
                <a:off x="857250" y="4762500"/>
                <a:ext cx="4715025" cy="571500"/>
                <a:chOff x="0" y="0"/>
                <a:chExt cx="4715025" cy="571500"/>
              </a:xfrm>
            </p:grpSpPr>
            <p:sp>
              <p:nvSpPr>
                <p:cNvPr id="217" name="Google Shape;217;p19"/>
                <p:cNvSpPr/>
                <p:nvPr/>
              </p:nvSpPr>
              <p:spPr>
                <a:xfrm>
                  <a:off x="0" y="0"/>
                  <a:ext cx="304800" cy="304800"/>
                </a:xfrm>
                <a:prstGeom prst="roundRect">
                  <a:avLst>
                    <a:gd fmla="val 25000" name="adj"/>
                  </a:avLst>
                </a:prstGeom>
                <a:solidFill>
                  <a:srgbClr val="10B981">
                    <a:alpha val="1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" name="Google Shape;218;p19"/>
                <p:cNvSpPr txBox="1"/>
                <p:nvPr/>
              </p:nvSpPr>
              <p:spPr>
                <a:xfrm>
                  <a:off x="0" y="23368"/>
                  <a:ext cx="3048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10B981"/>
                      </a:solidFill>
                      <a:latin typeface="Material Icons"/>
                      <a:ea typeface="Material Icons"/>
                      <a:cs typeface="Material Icons"/>
                      <a:sym typeface="Material Icons"/>
                    </a:rPr>
                    <a:t>check_circle</a:t>
                  </a:r>
                  <a:endParaRPr sz="1600">
                    <a:solidFill>
                      <a:srgbClr val="10B98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endParaRPr>
                </a:p>
              </p:txBody>
            </p:sp>
            <p:sp>
              <p:nvSpPr>
                <p:cNvPr id="219" name="Google Shape;219;p19"/>
                <p:cNvSpPr txBox="1"/>
                <p:nvPr/>
              </p:nvSpPr>
              <p:spPr>
                <a:xfrm>
                  <a:off x="428625" y="0"/>
                  <a:ext cx="42864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300">
                      <a:solidFill>
                        <a:srgbClr val="F8FAFC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Cuadratura Total:</a:t>
                  </a:r>
                  <a:r>
                    <a:rPr lang="en-US" sz="1300">
                      <a:solidFill>
                        <a:srgbClr val="CBD5E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 El saldo final converge exactamente en </a:t>
                  </a:r>
                  <a:r>
                    <a:rPr b="1" lang="en-US" sz="1300">
                      <a:solidFill>
                        <a:srgbClr val="10B98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$13,000</a:t>
                  </a:r>
                  <a:r>
                    <a:rPr lang="en-US" sz="1300">
                      <a:solidFill>
                        <a:srgbClr val="CBD5E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.</a:t>
                  </a:r>
                  <a:endParaRPr sz="1300">
                    <a:solidFill>
                      <a:srgbClr val="CBD5E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20"/>
          <p:cNvGrpSpPr/>
          <p:nvPr/>
        </p:nvGrpSpPr>
        <p:grpSpPr>
          <a:xfrm>
            <a:off x="571500" y="571500"/>
            <a:ext cx="11049000" cy="657225"/>
            <a:chOff x="571500" y="571500"/>
            <a:chExt cx="11049000" cy="657225"/>
          </a:xfrm>
        </p:grpSpPr>
        <p:sp>
          <p:nvSpPr>
            <p:cNvPr id="225" name="Google Shape;225;p20"/>
            <p:cNvSpPr/>
            <p:nvPr/>
          </p:nvSpPr>
          <p:spPr>
            <a:xfrm>
              <a:off x="571500" y="1190625"/>
              <a:ext cx="952500" cy="381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0"/>
            <p:cNvSpPr txBox="1"/>
            <p:nvPr/>
          </p:nvSpPr>
          <p:spPr>
            <a:xfrm>
              <a:off x="571500" y="57150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6B6D4"/>
                  </a:solidFill>
                  <a:latin typeface="Poppins"/>
                  <a:ea typeface="Poppins"/>
                  <a:cs typeface="Poppins"/>
                  <a:sym typeface="Poppins"/>
                </a:rPr>
                <a:t>Conclusión del Proyecto</a:t>
              </a:r>
              <a:endParaRPr b="1" sz="360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27" name="Google Shape;227;p20"/>
          <p:cNvGrpSpPr/>
          <p:nvPr/>
        </p:nvGrpSpPr>
        <p:grpSpPr>
          <a:xfrm>
            <a:off x="571500" y="1714500"/>
            <a:ext cx="3429000" cy="4286400"/>
            <a:chOff x="571500" y="1714500"/>
            <a:chExt cx="3429000" cy="4286400"/>
          </a:xfrm>
        </p:grpSpPr>
        <p:sp>
          <p:nvSpPr>
            <p:cNvPr id="228" name="Google Shape;228;p20"/>
            <p:cNvSpPr/>
            <p:nvPr/>
          </p:nvSpPr>
          <p:spPr>
            <a:xfrm>
              <a:off x="571500" y="1714500"/>
              <a:ext cx="3429000" cy="4286400"/>
            </a:xfrm>
            <a:prstGeom prst="roundRect">
              <a:avLst>
                <a:gd fmla="val 5555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0"/>
            <p:cNvSpPr txBox="1"/>
            <p:nvPr/>
          </p:nvSpPr>
          <p:spPr>
            <a:xfrm>
              <a:off x="571500" y="2058670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40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0" name="Google Shape;230;p20"/>
            <p:cNvSpPr txBox="1"/>
            <p:nvPr/>
          </p:nvSpPr>
          <p:spPr>
            <a:xfrm>
              <a:off x="762000" y="2762250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Código Puro</a:t>
              </a:r>
              <a:endParaRPr b="1" sz="22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1" name="Google Shape;231;p20"/>
            <p:cNvSpPr txBox="1"/>
            <p:nvPr/>
          </p:nvSpPr>
          <p:spPr>
            <a:xfrm>
              <a:off x="857250" y="3333750"/>
              <a:ext cx="2857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Desarrollo estructurado con dependencias limpias, basado enteramente en </a:t>
              </a:r>
              <a:r>
                <a:rPr b="1" lang="en-US"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Java nativo</a:t>
              </a:r>
              <a:r>
                <a:rPr lang="en-US"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y POO, sin necesidad de librerías de terceros.</a:t>
              </a:r>
              <a:endParaRPr sz="14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32" name="Google Shape;232;p20"/>
          <p:cNvGrpSpPr/>
          <p:nvPr/>
        </p:nvGrpSpPr>
        <p:grpSpPr>
          <a:xfrm>
            <a:off x="4381500" y="1714500"/>
            <a:ext cx="3429000" cy="4286400"/>
            <a:chOff x="4381500" y="1714500"/>
            <a:chExt cx="3429000" cy="4286400"/>
          </a:xfrm>
        </p:grpSpPr>
        <p:sp>
          <p:nvSpPr>
            <p:cNvPr id="233" name="Google Shape;233;p20"/>
            <p:cNvSpPr/>
            <p:nvPr/>
          </p:nvSpPr>
          <p:spPr>
            <a:xfrm>
              <a:off x="4381500" y="1714500"/>
              <a:ext cx="3429000" cy="4286400"/>
            </a:xfrm>
            <a:prstGeom prst="roundRect">
              <a:avLst>
                <a:gd fmla="val 5555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0"/>
            <p:cNvSpPr txBox="1"/>
            <p:nvPr/>
          </p:nvSpPr>
          <p:spPr>
            <a:xfrm>
              <a:off x="4381500" y="2058670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40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5" name="Google Shape;235;p20"/>
            <p:cNvSpPr txBox="1"/>
            <p:nvPr/>
          </p:nvSpPr>
          <p:spPr>
            <a:xfrm>
              <a:off x="4572000" y="2762250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Seguridad Lógica</a:t>
              </a:r>
              <a:endParaRPr b="1" sz="22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6" name="Google Shape;236;p20"/>
            <p:cNvSpPr txBox="1"/>
            <p:nvPr/>
          </p:nvSpPr>
          <p:spPr>
            <a:xfrm>
              <a:off x="4667250" y="3333750"/>
              <a:ext cx="2857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Se demostró el dominio de la memoria compartida previniendo la corrupción de datos mediante técnicas de </a:t>
              </a:r>
              <a:r>
                <a:rPr b="1" lang="en-US"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exclusión mutua</a:t>
              </a:r>
              <a:r>
                <a:rPr lang="en-US"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14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37" name="Google Shape;237;p20"/>
          <p:cNvGrpSpPr/>
          <p:nvPr/>
        </p:nvGrpSpPr>
        <p:grpSpPr>
          <a:xfrm>
            <a:off x="8191500" y="1714500"/>
            <a:ext cx="3429000" cy="4286400"/>
            <a:chOff x="8191500" y="1714500"/>
            <a:chExt cx="3429000" cy="4286400"/>
          </a:xfrm>
        </p:grpSpPr>
        <p:sp>
          <p:nvSpPr>
            <p:cNvPr id="238" name="Google Shape;238;p20"/>
            <p:cNvSpPr/>
            <p:nvPr/>
          </p:nvSpPr>
          <p:spPr>
            <a:xfrm>
              <a:off x="8191500" y="1714500"/>
              <a:ext cx="3429000" cy="4286400"/>
            </a:xfrm>
            <a:prstGeom prst="roundRect">
              <a:avLst>
                <a:gd fmla="val 5555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8191500" y="2058670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40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8382000" y="2762250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Trazabilidad</a:t>
              </a:r>
              <a:endParaRPr b="1" sz="22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1" name="Google Shape;241;p20"/>
            <p:cNvSpPr txBox="1"/>
            <p:nvPr/>
          </p:nvSpPr>
          <p:spPr>
            <a:xfrm>
              <a:off x="8477250" y="3333750"/>
              <a:ext cx="2857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El registro </a:t>
              </a:r>
              <a:r>
                <a:rPr i="1" lang="en-US" sz="1400">
                  <a:solidFill>
                    <a:srgbClr val="06B6D4"/>
                  </a:solidFill>
                  <a:latin typeface="Lato"/>
                  <a:ea typeface="Lato"/>
                  <a:cs typeface="Lato"/>
                  <a:sym typeface="Lato"/>
                </a:rPr>
                <a:t>'resultado_consola.txt'</a:t>
              </a:r>
              <a:r>
                <a:rPr lang="en-US" sz="140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audita el comportamiento del sistema, dejando evidencia del fallo intencional y la resolución exitosa.</a:t>
              </a:r>
              <a:endParaRPr sz="14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